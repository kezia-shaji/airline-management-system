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Segoe UI"/>
              </a:defRPr>
            </a:pPr>
            <a:r>
              <a:t>✈  B.TECH DEGREE PROJECT PRESENTATION</a:t>
            </a:r>
          </a:p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AIRLINE MANAGEMENT SYSTEM</a:t>
            </a:r>
          </a:p>
          <a:p>
            <a:pPr>
              <a:defRPr sz="1400">
                <a:solidFill>
                  <a:srgbClr val="CBD5E1"/>
                </a:solidFill>
                <a:latin typeface="Segoe UI"/>
              </a:defRPr>
            </a:pPr>
            <a:r>
              <a:t>A Desktop Flight Operations, Cabin Seat Allocation &amp; Generative AI Travel Intelligence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926080"/>
            <a:ext cx="6217920" cy="3108960"/>
          </a:xfrm>
          <a:prstGeom prst="roundRect">
            <a:avLst/>
          </a:prstGeom>
          <a:solidFill>
            <a:srgbClr val="183059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10896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Segoe UI"/>
              </a:defRPr>
            </a:pPr>
            <a:r>
              <a:t>PROJECT TEAM MEMBERS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 1. Kezia Shaji  —  Roll No: [ROLL_NUMBER_1]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 2. Nanditha S  —  Roll No: [ROLL_NUMBER_2]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 3. Sheikha Nizam  —  Roll No: [ROLL_NUMBER_3]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•  4. Suryadev TP  —  Roll No: [ROLL_NUMBER_4]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Department of Computer Science &amp; Engineering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2926080"/>
            <a:ext cx="3840480" cy="3108960"/>
          </a:xfrm>
          <a:prstGeom prst="roundRect">
            <a:avLst/>
          </a:prstGeom>
          <a:solidFill>
            <a:srgbClr val="183059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310896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Segoe UI"/>
              </a:defRPr>
            </a:pPr>
            <a:r>
              <a:t>PROJECT GUIDANCE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Project Guide:</a:t>
            </a:r>
            <a:br/>
            <a:r>
              <a:t>[GUIDE_NAME, e.g., Prof. Guide Name, Designation]</a:t>
            </a:r>
          </a:p>
          <a:p>
            <a:pPr>
              <a:spcBef>
                <a:spcPts val="10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Institution:</a:t>
            </a:r>
            <a:br/>
            <a:r>
              <a:t>[COLLEGE_NAME, e.g., College of Engineering]</a:t>
            </a:r>
            <a:br/>
            <a:r>
              <a:t>[DEPARTMENT_NAME]</a:t>
            </a:r>
          </a:p>
          <a:p>
            <a:pPr>
              <a:spcBef>
                <a:spcPts val="1000"/>
              </a:spcBef>
              <a:defRPr sz="1100" b="1">
                <a:solidFill>
                  <a:srgbClr val="38BDF8"/>
                </a:solidFill>
                <a:latin typeface="Segoe UI"/>
              </a:defRPr>
            </a:pPr>
            <a:r>
              <a:t>Date: [PRESENTATION_DATE, e.g., October 2026]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Segoe UI"/>
              </a:defRPr>
            </a:pPr>
            <a:r>
              <a:t>1. INTRODUCTION</a:t>
            </a:r>
          </a:p>
          <a:p>
            <a:pPr>
              <a:defRPr sz="2200" b="1">
                <a:solidFill>
                  <a:srgbClr val="0F1E41"/>
                </a:solidFill>
                <a:latin typeface="Segoe UI"/>
              </a:defRPr>
            </a:pPr>
            <a:r>
              <a:t>Aviation Industry Context &amp; Importance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Airline Management System  •  B.Tech CSE Project Presentation  •  Slide 2 of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E41"/>
                </a:solidFill>
                <a:latin typeface="Segoe UI"/>
              </a:defRPr>
            </a:pPr>
            <a:r>
              <a:t>Growth of Commercial Air Travel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1D4ED8"/>
                </a:solidFill>
                <a:latin typeface="Segoe UI"/>
              </a:rPr>
              <a:t>• Surging Domestic Passenger Volume: </a:t>
            </a:r>
            <a:r>
              <a:rPr sz="1200">
                <a:solidFill>
                  <a:srgbClr val="0F172A"/>
                </a:solidFill>
                <a:latin typeface="Segoe UI"/>
              </a:rPr>
              <a:t>Modern air travel has transitioned into high-frequency mass transit requiring rapid, error-free reservation processing.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1D4ED8"/>
                </a:solidFill>
                <a:latin typeface="Segoe UI"/>
              </a:rPr>
              <a:t>• Shift to Integrated Operations: </a:t>
            </a:r>
            <a:r>
              <a:rPr sz="1200">
                <a:solidFill>
                  <a:srgbClr val="0F172A"/>
                </a:solidFill>
                <a:latin typeface="Segoe UI"/>
              </a:rPr>
              <a:t>Aviation workflows require tight, atomic synchronization between flight scheduling, seat inventory, and passenger records.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1D4ED8"/>
                </a:solidFill>
                <a:latin typeface="Segoe UI"/>
              </a:rPr>
              <a:t>• Critical Need for Concurrency: </a:t>
            </a:r>
            <a:r>
              <a:rPr sz="1200">
                <a:solidFill>
                  <a:srgbClr val="0F172A"/>
                </a:solidFill>
                <a:latin typeface="Segoe UI"/>
              </a:rPr>
              <a:t>Multiple transactions executing across identical flight schedules require strict ACID transaction integrity to prevent seat collisions.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1D4ED8"/>
                </a:solidFill>
                <a:latin typeface="Segoe UI"/>
              </a:rPr>
              <a:t>• Enterprise Reliability: </a:t>
            </a:r>
            <a:r>
              <a:rPr sz="1200">
                <a:solidFill>
                  <a:srgbClr val="0F172A"/>
                </a:solidFill>
                <a:latin typeface="Segoe UI"/>
              </a:rPr>
              <a:t>Failure in inventory synchronization directly results in overbooking, revenue leakage, and customer dissatisfaction.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E41"/>
                </a:solidFill>
                <a:latin typeface="Segoe UI"/>
              </a:defRPr>
            </a:pPr>
            <a:r>
              <a:t>Stakeholder Needs &amp; Dual-Portal Synergy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0D9488"/>
                </a:solidFill>
                <a:latin typeface="Segoe UI"/>
              </a:rPr>
              <a:t>• Passenger Self-Service Portal: </a:t>
            </a:r>
            <a:r>
              <a:rPr sz="1200">
                <a:solidFill>
                  <a:srgbClr val="0F172A"/>
                </a:solidFill>
                <a:latin typeface="Segoe UI"/>
              </a:rPr>
              <a:t>Passengers demand transparent fare comparisons, visual aircraft cabin seating, instantaneous e-ticket issuance, and instant cancellation.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0D9488"/>
                </a:solidFill>
                <a:latin typeface="Segoe UI"/>
              </a:rPr>
              <a:t>• Administrator Dispatch Console: </a:t>
            </a:r>
            <a:r>
              <a:rPr sz="1200">
                <a:solidFill>
                  <a:srgbClr val="0F172A"/>
                </a:solidFill>
                <a:latin typeface="Segoe UI"/>
              </a:rPr>
              <a:t>Flight managers require centralized scheduling controls, route addition forms, manifest directories, and real-time fleet capacity tracking.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0D9488"/>
                </a:solidFill>
                <a:latin typeface="Segoe UI"/>
              </a:rPr>
              <a:t>• Bridging the Information Gap: </a:t>
            </a:r>
            <a:r>
              <a:rPr sz="1200">
                <a:solidFill>
                  <a:srgbClr val="0F172A"/>
                </a:solidFill>
                <a:latin typeface="Segoe UI"/>
              </a:rPr>
              <a:t>Traditional systems cease interaction at ticket generation. Modern systems must enrich the post-booking journey with automated travel intelligence.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0D9488"/>
                </a:solidFill>
                <a:latin typeface="Segoe UI"/>
              </a:rPr>
              <a:t>• Desktop Performance Advantage: </a:t>
            </a:r>
            <a:r>
              <a:rPr sz="1200">
                <a:solidFill>
                  <a:srgbClr val="0F172A"/>
                </a:solidFill>
                <a:latin typeface="Segoe UI"/>
              </a:rPr>
              <a:t>Native desktop deployment eliminates browser memory overhead, DOM rendering lag, and internet latency for localized flight dispatch.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Segoe UI"/>
              </a:defRPr>
            </a:pPr>
            <a:r>
              <a:t>1. INTRODUCTION</a:t>
            </a:r>
          </a:p>
          <a:p>
            <a:pPr>
              <a:defRPr sz="2200" b="1">
                <a:solidFill>
                  <a:srgbClr val="0F1E41"/>
                </a:solidFill>
                <a:latin typeface="Segoe UI"/>
              </a:defRPr>
            </a:pPr>
            <a:r>
              <a:t>Current Challenges &amp; Project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Airline Management System  •  B.Tech CSE Project Presentation  •  Slide 3 of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3383280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Segoe UI"/>
              </a:defRPr>
            </a:pPr>
            <a:r>
              <a:t>CHALLENGE 01</a:t>
            </a:r>
          </a:p>
          <a:p>
            <a:pPr>
              <a:spcBef>
                <a:spcPts val="400"/>
              </a:spcBef>
              <a:defRPr sz="1500" b="1">
                <a:solidFill>
                  <a:srgbClr val="0F1E41"/>
                </a:solidFill>
                <a:latin typeface="Segoe UI"/>
              </a:defRPr>
            </a:pPr>
            <a:r>
              <a:t>Fragmented Legacy Systems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Conventional desktop tools rely on outdated AWT/Metal frameworks with cluttered layouts, unformatted text views, and no real-time status alerts.</a:t>
            </a:r>
          </a:p>
          <a:p>
            <a:pPr>
              <a:spcBef>
                <a:spcPts val="1600"/>
              </a:spcBef>
              <a:defRPr sz="1100" b="1">
                <a:solidFill>
                  <a:srgbClr val="1D4ED8"/>
                </a:solidFill>
                <a:latin typeface="Segoe UI"/>
              </a:defRPr>
            </a:pPr>
            <a:r>
              <a:t>OUR SOLUTION APPROACH</a:t>
            </a:r>
          </a:p>
          <a:p>
            <a:pPr>
              <a:spcBef>
                <a:spcPts val="400"/>
              </a:spcBef>
              <a:defRPr sz="1300" b="1">
                <a:solidFill>
                  <a:srgbClr val="0F1E41"/>
                </a:solidFill>
                <a:latin typeface="Segoe UI"/>
              </a:defRPr>
            </a:pPr>
            <a:r>
              <a:t>Unified Desktop Suite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Built on modern Java Swing + FlatLaf with structured card containers, clear typography, and an airline-inspired color palette.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338328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9164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CHALLENGE 02</a:t>
            </a:r>
          </a:p>
          <a:p>
            <a:pPr>
              <a:spcBef>
                <a:spcPts val="400"/>
              </a:spcBef>
              <a:defRPr sz="1500" b="1">
                <a:solidFill>
                  <a:srgbClr val="0F1E41"/>
                </a:solidFill>
                <a:latin typeface="Segoe UI"/>
              </a:defRPr>
            </a:pPr>
            <a:r>
              <a:t>Inventory Concurrency &amp; Race Conditions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Many student and legacy prototypes lack row-level locking, leading to phantom bookings, double-allocated seats, and unreleased cancelled tickets.</a:t>
            </a:r>
          </a:p>
          <a:p>
            <a:pPr>
              <a:spcBef>
                <a:spcPts val="1600"/>
              </a:spcBef>
              <a:defRPr sz="1100" b="1">
                <a:solidFill>
                  <a:srgbClr val="0D9488"/>
                </a:solidFill>
                <a:latin typeface="Segoe UI"/>
              </a:defRPr>
            </a:pPr>
            <a:r>
              <a:t>OUR SOLUTION APPROACH</a:t>
            </a:r>
          </a:p>
          <a:p>
            <a:pPr>
              <a:spcBef>
                <a:spcPts val="400"/>
              </a:spcBef>
              <a:defRPr sz="1300" b="1">
                <a:solidFill>
                  <a:srgbClr val="0F1E41"/>
                </a:solidFill>
                <a:latin typeface="Segoe UI"/>
              </a:defRPr>
            </a:pPr>
            <a:r>
              <a:t>ACID Relational Integrity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MySQL 8.4 engine using SELECT ... FOR UPDATE transactions, ensuring atomic booking, seat status locking, and instant seat recovery upon cancellation.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463040"/>
            <a:ext cx="3383280" cy="9144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69164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E41"/>
                </a:solidFill>
                <a:latin typeface="Segoe UI"/>
              </a:defRPr>
            </a:pPr>
            <a:r>
              <a:t>CHALLENGE 03</a:t>
            </a:r>
          </a:p>
          <a:p>
            <a:pPr>
              <a:spcBef>
                <a:spcPts val="400"/>
              </a:spcBef>
              <a:defRPr sz="1500" b="1">
                <a:solidFill>
                  <a:srgbClr val="0F1E41"/>
                </a:solidFill>
                <a:latin typeface="Segoe UI"/>
              </a:defRPr>
            </a:pPr>
            <a:r>
              <a:t>Absence of Intelligent Passenger Assistance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Airline software historically treats the passenger experience purely as transactional, ignoring destination guidance, packing advice, and local transit.</a:t>
            </a:r>
          </a:p>
          <a:p>
            <a:pPr>
              <a:spcBef>
                <a:spcPts val="1600"/>
              </a:spcBef>
              <a:defRPr sz="1100" b="1">
                <a:solidFill>
                  <a:srgbClr val="0F1E41"/>
                </a:solidFill>
                <a:latin typeface="Segoe UI"/>
              </a:defRPr>
            </a:pPr>
            <a:r>
              <a:t>OUR SOLUTION APPROACH</a:t>
            </a:r>
          </a:p>
          <a:p>
            <a:pPr>
              <a:spcBef>
                <a:spcPts val="400"/>
              </a:spcBef>
              <a:defRPr sz="1300" b="1">
                <a:solidFill>
                  <a:srgbClr val="0F1E41"/>
                </a:solidFill>
                <a:latin typeface="Segoe UI"/>
              </a:defRPr>
            </a:pPr>
            <a:r>
              <a:t>Generative AI Companion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Integrated Groq API (openai/gpt-oss-120b) automatically detects booked destination city and streams rich, contextual travel guides in real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Segoe UI"/>
              </a:defRPr>
            </a:pPr>
            <a:r>
              <a:t>2. PROBLEM STATEMENT</a:t>
            </a:r>
          </a:p>
          <a:p>
            <a:pPr>
              <a:defRPr sz="2200" b="1">
                <a:solidFill>
                  <a:srgbClr val="0F1E41"/>
                </a:solidFill>
                <a:latin typeface="Segoe UI"/>
              </a:defRPr>
            </a:pPr>
            <a:r>
              <a:t>Formal Problem Definition &amp;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Airline Management System  •  B.Tech CSE Project Presentation  •  Slide 4 of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1188720"/>
          </a:xfrm>
          <a:prstGeom prst="roundRect">
            <a:avLst/>
          </a:prstGeom>
          <a:solidFill>
            <a:srgbClr val="183059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101800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CORE PROBLEM STATEMENT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“Design and implement a robust, fail-safe desktop Airline Management System that unifies flight scheduling, real-time cabin seat allocation, ACID-compliant transaction processing, and post-booking generative AI travel assistance within a secure, high-performance Java Swing architecture.”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52120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1752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E41"/>
                </a:solidFill>
                <a:latin typeface="Segoe UI"/>
              </a:defRPr>
            </a:pPr>
            <a:r>
              <a:t>Limitations of Existing Approaches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E11D48"/>
                </a:solidFill>
                <a:latin typeface="Segoe UI"/>
              </a:rPr>
              <a:t>✕ Heavy Commercial Web Portals: </a:t>
            </a:r>
            <a:r>
              <a:rPr sz="1100">
                <a:solidFill>
                  <a:srgbClr val="0F172A"/>
                </a:solidFill>
                <a:latin typeface="Segoe UI"/>
              </a:rPr>
              <a:t>High client latency, dependency on continuous multi-megabit internet, complex browser tracking, and vulnerability to network drops during checkout.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E11D48"/>
                </a:solidFill>
                <a:latin typeface="Segoe UI"/>
              </a:rPr>
              <a:t>✕ Legacy Terminal Applications: </a:t>
            </a:r>
            <a:r>
              <a:rPr sz="1100">
                <a:solidFill>
                  <a:srgbClr val="0F172A"/>
                </a:solidFill>
                <a:latin typeface="Segoe UI"/>
              </a:rPr>
              <a:t>Monochrome/Metal Swing aesthetics, rigid text-only seat input, lack of interactive cabin layouts, and disjointed cancellation workflows.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E11D48"/>
                </a:solidFill>
                <a:latin typeface="Segoe UI"/>
              </a:rPr>
              <a:t>✕ Academic Prototypes: </a:t>
            </a:r>
            <a:r>
              <a:rPr sz="1100">
                <a:solidFill>
                  <a:srgbClr val="0F172A"/>
                </a:solidFill>
                <a:latin typeface="Segoe UI"/>
              </a:rPr>
              <a:t>Predominantly mock-based with unhandled concurrency, hardcoded user state, no administrative controls, and zero contextual passenger assistance.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834640"/>
            <a:ext cx="52120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1752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E41"/>
                </a:solidFill>
                <a:latin typeface="Segoe UI"/>
              </a:defRPr>
            </a:pPr>
            <a:r>
              <a:t>Value of an Integrated Desktop Solution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59669"/>
                </a:solidFill>
                <a:latin typeface="Segoe UI"/>
              </a:rPr>
              <a:t>✓ Native Responsiveness: </a:t>
            </a:r>
            <a:r>
              <a:rPr sz="1100">
                <a:solidFill>
                  <a:srgbClr val="0F172A"/>
                </a:solidFill>
                <a:latin typeface="Segoe UI"/>
              </a:rPr>
              <a:t>Sub-millisecond event dispatch on the desktop without web browser rendering overhead or DOM bottlenecks.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59669"/>
                </a:solidFill>
                <a:latin typeface="Segoe UI"/>
              </a:rPr>
              <a:t>✓ Reliable ACID Transactions: </a:t>
            </a:r>
            <a:r>
              <a:rPr sz="1100">
                <a:solidFill>
                  <a:srgbClr val="0F172A"/>
                </a:solidFill>
                <a:latin typeface="Segoe UI"/>
              </a:rPr>
              <a:t>Direct JDBC prepared transactions enforce foreign keys, rollback safety, and row-level locking for zero double-bookings.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59669"/>
                </a:solidFill>
                <a:latin typeface="Segoe UI"/>
              </a:rPr>
              <a:t>✓ Integrated AI Intelligence: </a:t>
            </a:r>
            <a:r>
              <a:rPr sz="1100">
                <a:solidFill>
                  <a:srgbClr val="0F172A"/>
                </a:solidFill>
                <a:latin typeface="Segoe UI"/>
              </a:rPr>
              <a:t>Asynchronous background worker bridges the local booking database with high-throughput Groq LLM inference.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59669"/>
                </a:solidFill>
                <a:latin typeface="Segoe UI"/>
              </a:rPr>
              <a:t>✓ Operational Dual Console: </a:t>
            </a:r>
            <a:r>
              <a:rPr sz="1100">
                <a:solidFill>
                  <a:srgbClr val="0F172A"/>
                </a:solidFill>
                <a:latin typeface="Segoe UI"/>
              </a:rPr>
              <a:t>Seamless privilege-based access for passengers (booking/companion) and administrators (fleet/passengers).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Segoe UI"/>
              </a:defRPr>
            </a:pPr>
            <a:r>
              <a:t>3. OBJECTIVES</a:t>
            </a:r>
          </a:p>
          <a:p>
            <a:pPr>
              <a:defRPr sz="2200" b="1">
                <a:solidFill>
                  <a:srgbClr val="0F1E41"/>
                </a:solidFill>
                <a:latin typeface="Segoe UI"/>
              </a:defRPr>
            </a:pPr>
            <a:r>
              <a:t>Specific 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Airline Management System  •  B.Tech CSE Project Presentation  •  Slide 5 of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627632"/>
            <a:ext cx="1371600" cy="53035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DEVELOP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554480"/>
            <a:ext cx="8778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E41"/>
                </a:solidFill>
                <a:latin typeface="Segoe UI"/>
              </a:defRPr>
            </a:pPr>
            <a:r>
              <a:t>Develop a Modern, Role-Based Desktop User Interface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Construct a responsive, multi-portal desktop application using Java 21, Java Swing, and FlatLaf 3.5.4, providing clean typography, custom card components, and distinct passenger and administrator consoles.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2316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587752"/>
            <a:ext cx="1371600" cy="53035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IMPLEMENT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514600"/>
            <a:ext cx="8778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E41"/>
                </a:solidFill>
                <a:latin typeface="Segoe UI"/>
              </a:defRPr>
            </a:pPr>
            <a:r>
              <a:t>Implement ACID Concurrency &amp; Transactional Booking Engine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Engineer a robust persistence engine via JDBC and MySQL 8.4 utilizing row-level locks (SELECT FOR UPDATE) to ensure complete transaction atomicity, prevent seat double-booking, and automate inventory recovery on cancellation.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8328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3547872"/>
            <a:ext cx="1371600" cy="53035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INTEGRATE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474720"/>
            <a:ext cx="8778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E41"/>
                </a:solidFill>
                <a:latin typeface="Segoe UI"/>
              </a:defRPr>
            </a:pPr>
            <a:r>
              <a:t>Integrate Visual Aircraft Cabin Seating &amp; Inventory Model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Design an interactive seat selector representing actual aircraft cabin geography (Cockpit orientation, Business Class vs. Economy Class), enabling instant visual confirmation without altering backend allocation algorithms.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4340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4507992"/>
            <a:ext cx="1371600" cy="53035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AUTOMATE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434840"/>
            <a:ext cx="8778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E41"/>
                </a:solidFill>
                <a:latin typeface="Segoe UI"/>
              </a:defRPr>
            </a:pPr>
            <a:r>
              <a:t>Automate E-Ticketing &amp; Event-Driven Notification Pipelines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Establish automated database triggers and service routines for instantaneous alphanumeric e-ticket generation and synchronized passenger notifications upon booking confirmation or cancellation.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0352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5468112"/>
            <a:ext cx="1371600" cy="530352"/>
          </a:xfrm>
          <a:prstGeom prst="round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INTEGRATE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5394960"/>
            <a:ext cx="8778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E41"/>
                </a:solidFill>
                <a:latin typeface="Segoe UI"/>
              </a:defRPr>
            </a:pPr>
            <a:r>
              <a:t>Integrate Cloud AI Travel Companion via Groq API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Incorporate asynchronous HTTP/2 client integration with Groq's high-speed inference cloud (openai/gpt-oss-120b) to dynamically parse the passenger's confirmed destination and generate structured travel guides on a non-blocking background thread.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Segoe UI"/>
              </a:defRPr>
            </a:pPr>
            <a:r>
              <a:t>4. LITERATURE REVIEW</a:t>
            </a:r>
          </a:p>
          <a:p>
            <a:pPr>
              <a:defRPr sz="2200" b="1">
                <a:solidFill>
                  <a:srgbClr val="0F1E41"/>
                </a:solidFill>
                <a:latin typeface="Segoe UI"/>
              </a:defRPr>
            </a:pPr>
            <a:r>
              <a:t>Survey of Existing Academic Literature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Airline Management System  •  B.Tech CSE Project Presentation  •  Slide 6 of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09728" cy="10789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36192"/>
            <a:ext cx="10241280" cy="932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Segoe UI"/>
              </a:rPr>
              <a:t>Belobaba, P. P. (MIT Flight Transportation Laboratory)  |  </a:t>
            </a:r>
            <a:r>
              <a:rPr sz="1000" i="1">
                <a:solidFill>
                  <a:srgbClr val="64748B"/>
                </a:solidFill>
                <a:latin typeface="Segoe UI"/>
              </a:rPr>
              <a:t>Operations Research Journal / MIT Air Transportation Group</a:t>
            </a:r>
          </a:p>
          <a:p>
            <a:pPr>
              <a:defRPr sz="1200" b="1">
                <a:solidFill>
                  <a:srgbClr val="0F1E41"/>
                </a:solidFill>
                <a:latin typeface="Segoe UI"/>
              </a:defRPr>
            </a:pPr>
            <a:r>
              <a:t>“Application of a Probabilistic Decision Model to Airline Seat Inventory Control”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Key Finding &amp; Relevance: Analyzed dynamic flight seat inventory allocation algorithms and fare-class nesting (EMSR model). Proved that partitioned seat capacity requires strict atomic boundaries between premium and economy tiers to prevent revenue loss and overbooking.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10728655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109728" cy="10789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24912"/>
            <a:ext cx="10241280" cy="932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Segoe UI"/>
              </a:rPr>
              <a:t>Al-Sultanny, Y. A. &amp; Al-Zuhair, M. A. (IEEE)  |  </a:t>
            </a:r>
            <a:r>
              <a:rPr sz="1000" i="1">
                <a:solidFill>
                  <a:srgbClr val="64748B"/>
                </a:solidFill>
                <a:latin typeface="Segoe UI"/>
              </a:rPr>
              <a:t>IEEE International Conference on Computer Science &amp; Information Technology</a:t>
            </a:r>
          </a:p>
          <a:p>
            <a:pPr>
              <a:defRPr sz="1200" b="1">
                <a:solidFill>
                  <a:srgbClr val="0F1E41"/>
                </a:solidFill>
                <a:latin typeface="Segoe UI"/>
              </a:defRPr>
            </a:pPr>
            <a:r>
              <a:t>“Design and Implementation of Airline Reservation System”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Key Finding &amp; Relevance: Examined relational database architectures for flight booking systems. Demonstrated that prepared statements, foreign-key cascaded tables, and transactional locking reduce query redundancy by 40% and eliminate concurrency deadlocks.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728655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840480"/>
            <a:ext cx="109728" cy="1078992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913632"/>
            <a:ext cx="10241280" cy="932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F1E41"/>
                </a:solidFill>
                <a:latin typeface="Segoe UI"/>
              </a:rPr>
              <a:t>Copeman, R. et al. (IEEE Annals)  |  </a:t>
            </a:r>
            <a:r>
              <a:rPr sz="1000" i="1">
                <a:solidFill>
                  <a:srgbClr val="64748B"/>
                </a:solidFill>
                <a:latin typeface="Segoe UI"/>
              </a:rPr>
              <a:t>IEEE Annals of the History of Computing</a:t>
            </a:r>
          </a:p>
          <a:p>
            <a:pPr>
              <a:defRPr sz="1200" b="1">
                <a:solidFill>
                  <a:srgbClr val="0F1E41"/>
                </a:solidFill>
                <a:latin typeface="Segoe UI"/>
              </a:defRPr>
            </a:pPr>
            <a:r>
              <a:t>“Architectural Evolution of Computerized Airline Reservation Systems”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Key Finding &amp; Relevance: Traced the technological development of early Passenger Service Systems (SABRE, PARS). Highlighted that decoupling UI rendering from database access is essential to prevent desktop application freezing during high transaction volumes.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029200"/>
            <a:ext cx="10728655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029200"/>
            <a:ext cx="109728" cy="10789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102352"/>
            <a:ext cx="10241280" cy="932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Segoe UI"/>
              </a:rPr>
              <a:t>Dwivedi, Y. K. et al. (Springer)  |  </a:t>
            </a:r>
            <a:r>
              <a:rPr sz="1000" i="1">
                <a:solidFill>
                  <a:srgbClr val="64748B"/>
                </a:solidFill>
                <a:latin typeface="Segoe UI"/>
              </a:rPr>
              <a:t>Information Systems Frontiers, Springer Nature</a:t>
            </a:r>
          </a:p>
          <a:p>
            <a:pPr>
              <a:defRPr sz="1200" b="1">
                <a:solidFill>
                  <a:srgbClr val="0F1E41"/>
                </a:solidFill>
                <a:latin typeface="Segoe UI"/>
              </a:defRPr>
            </a:pPr>
            <a:r>
              <a:t>“Generative Artificial Intelligence in Tourism &amp; Travel Planning”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Key Finding &amp; Relevance: Explored the integration of Large Language Models (LLMs) in digital tourism. Found that contextual itinerary generation tailored to confirmed user destinations drastically enhances user satisfaction and minimizes trip planning friction.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Segoe UI"/>
              </a:defRPr>
            </a:pPr>
            <a:r>
              <a:t>4. LITERATURE REVIEW</a:t>
            </a:r>
          </a:p>
          <a:p>
            <a:pPr>
              <a:defRPr sz="2200" b="1">
                <a:solidFill>
                  <a:srgbClr val="0F1E41"/>
                </a:solidFill>
                <a:latin typeface="Segoe UI"/>
              </a:defRPr>
            </a:pPr>
            <a:r>
              <a:t>Comparative Gap Analysis &amp; Project Positioning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Airline Management System  •  B.Tech CSE Project Presentation  •  Slide 7 of 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175"/>
                <a:gridCol w="2103120"/>
                <a:gridCol w="2103120"/>
                <a:gridCol w="2103120"/>
                <a:gridCol w="2103120"/>
              </a:tblGrid>
              <a:tr h="6553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Feature / Dimension</a:t>
                      </a:r>
                    </a:p>
                  </a:txBody>
                  <a:tcPr>
                    <a:solidFill>
                      <a:srgbClr val="1830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Legacy Desktop ARS</a:t>
                      </a:r>
                    </a:p>
                  </a:txBody>
                  <a:tcPr>
                    <a:solidFill>
                      <a:srgbClr val="1830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Commercial Web Portals</a:t>
                      </a:r>
                    </a:p>
                  </a:txBody>
                  <a:tcPr>
                    <a:solidFill>
                      <a:srgbClr val="1830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Academic Prototypes</a:t>
                      </a:r>
                    </a:p>
                  </a:txBody>
                  <a:tcPr>
                    <a:solidFill>
                      <a:srgbClr val="1830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Our Implemented System</a:t>
                      </a:r>
                    </a:p>
                  </a:txBody>
                  <a:tcPr>
                    <a:solidFill>
                      <a:srgbClr val="18305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E41"/>
                          </a:solidFill>
                          <a:latin typeface="Segoe UI"/>
                        </a:defRPr>
                      </a:pPr>
                      <a:r>
                        <a:t>Software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Monolithic Fat 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Cloud Microservices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Single-file Scripts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D4ED8"/>
                          </a:solidFill>
                          <a:latin typeface="Segoe UI"/>
                        </a:defRPr>
                      </a:pPr>
                      <a:r>
                        <a:t>Tiered Java Swing + JDBC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E41"/>
                          </a:solidFill>
                          <a:latin typeface="Segoe UI"/>
                        </a:defRPr>
                      </a:pPr>
                      <a:r>
                        <a:t>Cabin Seat Selection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Text Row/Col entry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Complex SVG seatmap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None / Fixed Mock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D4ED8"/>
                          </a:solidFill>
                          <a:latin typeface="Segoe UI"/>
                        </a:defRPr>
                      </a:pPr>
                      <a:r>
                        <a:t>Visual Cabin Grid (Biz/Econ)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E41"/>
                          </a:solidFill>
                          <a:latin typeface="Segoe UI"/>
                        </a:defRPr>
                      </a:pPr>
                      <a:r>
                        <a:t>Concurrency &amp; ACID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Table-level locks / race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Distributed Queues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Unchecked Overwrites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D4ED8"/>
                          </a:solidFill>
                          <a:latin typeface="Segoe UI"/>
                        </a:defRPr>
                      </a:pPr>
                      <a:r>
                        <a:t>Row Locks (SELECT FOR UPDATE)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E41"/>
                          </a:solidFill>
                          <a:latin typeface="Segoe UI"/>
                        </a:defRPr>
                      </a:pPr>
                      <a:r>
                        <a:t>Integrated AI Companion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No AI integration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Generic FAQs / Chatbots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D4ED8"/>
                          </a:solidFill>
                          <a:latin typeface="Segoe UI"/>
                        </a:defRPr>
                      </a:pPr>
                      <a:r>
                        <a:t>Groq AI Destination Guides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E41"/>
                          </a:solidFill>
                          <a:latin typeface="Segoe UI"/>
                        </a:defRPr>
                      </a:pPr>
                      <a:r>
                        <a:t>Look &amp; Feel Modernity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Outdated Metal / Grey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Responsive CSS3/HTML5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Default AWT components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D4ED8"/>
                          </a:solidFill>
                          <a:latin typeface="Segoe UI"/>
                        </a:defRPr>
                      </a:pPr>
                      <a:r>
                        <a:t>Custom FlatLaf Modern Theme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532120"/>
            <a:ext cx="10728655" cy="731520"/>
          </a:xfrm>
          <a:prstGeom prst="roundRect">
            <a:avLst/>
          </a:prstGeom>
          <a:solidFill>
            <a:srgbClr val="183059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596128"/>
            <a:ext cx="103628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RESEARCH GAP ADDRESSED: Our project bridges the gap between unreliable academic prototypes and bloated commercial web platforms by delivering a secure, transactional desktop management platform featuring interactive cabin seating, automated e-ticketing, and zero-latency generative AI travel intelligence.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Segoe UI"/>
              </a:defRPr>
            </a:pPr>
            <a:r>
              <a:t>5. METHODOLOGY</a:t>
            </a:r>
          </a:p>
          <a:p>
            <a:pPr>
              <a:defRPr sz="2200" b="1">
                <a:solidFill>
                  <a:srgbClr val="0F1E41"/>
                </a:solidFill>
                <a:latin typeface="Segoe UI"/>
              </a:defRPr>
            </a:pPr>
            <a:r>
              <a:t>Multi-Tiered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Airline Management System  •  B.Tech CSE Project Presentation  •  Slide 8 of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603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2560320" cy="685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PRESENTATION LAYER</a:t>
            </a:r>
          </a:p>
          <a:p>
            <a:pPr algn="ctr">
              <a:defRPr sz="900">
                <a:solidFill>
                  <a:srgbClr val="FFFFFF"/>
                </a:solidFill>
                <a:latin typeface="Segoe UI"/>
              </a:defRPr>
            </a:pPr>
            <a:r>
              <a:t>Java Swing + FlatLaf 3.5.4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22860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0F172A"/>
                </a:solidFill>
                <a:latin typeface="Segoe UI"/>
              </a:defRPr>
            </a:pPr>
            <a:r>
              <a:t>• LoginFrame &amp; Registration Modal</a:t>
            </a:r>
            <a:br/>
            <a:r>
              <a:t>• DashboardFrame Shell (Dual Role Navigation)</a:t>
            </a:r>
            <a:br/>
            <a:r>
              <a:t>• Flight Search &amp; Cabin Seating Dialog</a:t>
            </a:r>
            <a:br/>
            <a:r>
              <a:t>• E-Ticket Boarding Pass View &amp; Notification Center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463040"/>
            <a:ext cx="25603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463040"/>
            <a:ext cx="2560320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APPLICATION &amp; SERVICE LAYER</a:t>
            </a:r>
          </a:p>
          <a:p>
            <a:pPr algn="ctr">
              <a:defRPr sz="900">
                <a:solidFill>
                  <a:srgbClr val="FFFFFF"/>
                </a:solidFill>
                <a:latin typeface="Segoe UI"/>
              </a:defRPr>
            </a:pPr>
            <a:r>
              <a:t>Java Business Logic Controllers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240280"/>
            <a:ext cx="22860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0F172A"/>
                </a:solidFill>
                <a:latin typeface="Segoe UI"/>
              </a:defRPr>
            </a:pPr>
            <a:r>
              <a:t>• LoginService (User Authentication &amp; Password Check)</a:t>
            </a:r>
            <a:br/>
            <a:r>
              <a:t>• FlightService (Route Search &amp; Flight Management)</a:t>
            </a:r>
            <a:br/>
            <a:r>
              <a:t>• BookingService (Seat Allocation &amp; Cancellation)</a:t>
            </a:r>
            <a:br/>
            <a:r>
              <a:t>• NotificationService &amp; TravelCompanionService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25603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2560320" cy="685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PERSISTENCE &amp; DATA ACCESS</a:t>
            </a:r>
          </a:p>
          <a:p>
            <a:pPr algn="ctr">
              <a:defRPr sz="900">
                <a:solidFill>
                  <a:srgbClr val="FFFFFF"/>
                </a:solidFill>
                <a:latin typeface="Segoe UI"/>
              </a:defRPr>
            </a:pPr>
            <a:r>
              <a:t>JDBC Driver &amp; Connection Pooling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240280"/>
            <a:ext cx="22860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0F172A"/>
                </a:solidFill>
                <a:latin typeface="Segoe UI"/>
              </a:defRPr>
            </a:pPr>
            <a:r>
              <a:t>• Thread-safe DBConnection (URL, User, Password)</a:t>
            </a:r>
            <a:br/>
            <a:r>
              <a:t>• PreparedStatements with parameter binding</a:t>
            </a:r>
            <a:br/>
            <a:r>
              <a:t>• Transaction Atomicity (setAutoCommit, commit, rollback)</a:t>
            </a:r>
            <a:br/>
            <a:r>
              <a:t>• Row-level concurrency locking (SELECT FOR UPDATE)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463040"/>
            <a:ext cx="25603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1463040"/>
            <a:ext cx="2560320" cy="68580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DATABASE &amp; STORAGE LAYER</a:t>
            </a:r>
          </a:p>
          <a:p>
            <a:pPr algn="ctr">
              <a:defRPr sz="900">
                <a:solidFill>
                  <a:srgbClr val="FFFFFF"/>
                </a:solidFill>
                <a:latin typeface="Segoe UI"/>
              </a:defRPr>
            </a:pPr>
            <a:r>
              <a:t>MySQL 8.4 Relational Storage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240280"/>
            <a:ext cx="22860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0F172A"/>
                </a:solidFill>
                <a:latin typeface="Segoe UI"/>
              </a:defRPr>
            </a:pPr>
            <a:r>
              <a:t>• 8 Normalized relational tables with FK cascades</a:t>
            </a:r>
            <a:br/>
            <a:r>
              <a:t>• users, passengers, flights, seats, bookings</a:t>
            </a:r>
            <a:br/>
            <a:r>
              <a:t>• e_tickets, notifications, destinations</a:t>
            </a:r>
            <a:br/>
            <a:r>
              <a:t>• Automated seat generation stored procedure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532120"/>
            <a:ext cx="10728655" cy="731520"/>
          </a:xfrm>
          <a:prstGeom prst="roundRect">
            <a:avLst/>
          </a:prstGeom>
          <a:solidFill>
            <a:srgbClr val="183059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596128"/>
            <a:ext cx="103628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EXTERNAL CLOUD AI INTEGRATION: TravelCompanionService communicates asynchronously via Java 11+ HttpClient to Groq Cloud API (openai/gpt-oss-120b). Offloads heavy prompt processing off the Swing Event Dispatch Thread (EDT) via SwingWorker.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Segoe UI"/>
              </a:defRPr>
            </a:pPr>
            <a:r>
              <a:t>5. METHODOLOGY</a:t>
            </a:r>
          </a:p>
          <a:p>
            <a:pPr>
              <a:defRPr sz="2200" b="1">
                <a:solidFill>
                  <a:srgbClr val="0F1E41"/>
                </a:solidFill>
                <a:latin typeface="Segoe UI"/>
              </a:defRPr>
            </a:pPr>
            <a:r>
              <a:t>Technology Stack &amp; Technical Rationale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Airline Management System  •  B.Tech CSE Project Presentation  •  Slide 9 of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338328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301752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CORE PROGRAMMING LANGUAGE</a:t>
            </a:r>
          </a:p>
          <a:p>
            <a:pPr>
              <a:spcBef>
                <a:spcPts val="300"/>
              </a:spcBef>
              <a:defRPr sz="1300" b="1">
                <a:solidFill>
                  <a:srgbClr val="0F1E41"/>
                </a:solidFill>
                <a:latin typeface="Segoe UI"/>
              </a:defRPr>
            </a:pPr>
            <a:r>
              <a:t>Java Development Kit (JDK 21 LTS)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Leveraged Java 21 LTS for modern language features, strong type safety, robust multi-threading libraries, and long-term enterprise runtime stability.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338328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27632"/>
            <a:ext cx="301752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Segoe UI"/>
              </a:defRPr>
            </a:pPr>
            <a:r>
              <a:t>USER INTERFACE FRAMEWORK</a:t>
            </a:r>
          </a:p>
          <a:p>
            <a:pPr>
              <a:spcBef>
                <a:spcPts val="300"/>
              </a:spcBef>
              <a:defRPr sz="1300" b="1">
                <a:solidFill>
                  <a:srgbClr val="0F1E41"/>
                </a:solidFill>
                <a:latin typeface="Segoe UI"/>
              </a:defRPr>
            </a:pPr>
            <a:r>
              <a:t>Java Swing + FlatLaf 3.5.4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FlatLaf provides a modern, clean Look &amp; Feel with custom component arcs, antialiased vector geometry, and table padding, removing default Metal UI grayness.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3832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463040"/>
            <a:ext cx="3383280" cy="73152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627632"/>
            <a:ext cx="301752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F1E41"/>
                </a:solidFill>
                <a:latin typeface="Segoe UI"/>
              </a:defRPr>
            </a:pPr>
            <a:r>
              <a:t>RELATIONAL DATABASE ENGINE</a:t>
            </a:r>
          </a:p>
          <a:p>
            <a:pPr>
              <a:spcBef>
                <a:spcPts val="300"/>
              </a:spcBef>
              <a:defRPr sz="1300" b="1">
                <a:solidFill>
                  <a:srgbClr val="0F1E41"/>
                </a:solidFill>
                <a:latin typeface="Segoe UI"/>
              </a:defRPr>
            </a:pPr>
            <a:r>
              <a:t>MySQL 8.4 Server (LTS)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Guarantees ACID transactions, foreign key constraints (ON DELETE CASCADE), indexed search query performance, and reliable relational integrity.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86200"/>
            <a:ext cx="33832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886200"/>
            <a:ext cx="338328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50792"/>
            <a:ext cx="301752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DATABASE ACCESS &amp; PERSISTENCE</a:t>
            </a:r>
          </a:p>
          <a:p>
            <a:pPr>
              <a:spcBef>
                <a:spcPts val="300"/>
              </a:spcBef>
              <a:defRPr sz="1300" b="1">
                <a:solidFill>
                  <a:srgbClr val="0F1E41"/>
                </a:solidFill>
                <a:latin typeface="Segoe UI"/>
              </a:defRPr>
            </a:pPr>
            <a:r>
              <a:t>Java Database Connectivity (JDBC)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Enables high-throughput SQL communication using PreparedStatements, parameterized query binding to eliminate SQL injection, and manual commit boundaries.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886200"/>
            <a:ext cx="33832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3886200"/>
            <a:ext cx="338328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4050792"/>
            <a:ext cx="301752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Segoe UI"/>
              </a:defRPr>
            </a:pPr>
            <a:r>
              <a:t>GENERATIVE AI COMPANION ENGINE</a:t>
            </a:r>
          </a:p>
          <a:p>
            <a:pPr>
              <a:spcBef>
                <a:spcPts val="300"/>
              </a:spcBef>
              <a:defRPr sz="1300" b="1">
                <a:solidFill>
                  <a:srgbClr val="0F1E41"/>
                </a:solidFill>
                <a:latin typeface="Segoe UI"/>
              </a:defRPr>
            </a:pPr>
            <a:r>
              <a:t>Groq Cloud API &amp; LLM Service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Utilizes Groq's high-speed inference cloud running openai/gpt-oss-120b to stream real-time, personalized destination insights with ultra-low latency.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886200"/>
            <a:ext cx="33832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3886200"/>
            <a:ext cx="3383280" cy="73152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4050792"/>
            <a:ext cx="301752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F1E41"/>
                </a:solidFill>
                <a:latin typeface="Segoe UI"/>
              </a:defRPr>
            </a:pPr>
            <a:r>
              <a:t>BUILD &amp; DEPENDENCY MANAGEMENT</a:t>
            </a:r>
          </a:p>
          <a:p>
            <a:pPr>
              <a:spcBef>
                <a:spcPts val="300"/>
              </a:spcBef>
              <a:defRPr sz="1300" b="1">
                <a:solidFill>
                  <a:srgbClr val="0F1E41"/>
                </a:solidFill>
                <a:latin typeface="Segoe UI"/>
              </a:defRPr>
            </a:pPr>
            <a:r>
              <a:t>Apache Maven 3.9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Automates dependency resolution for MySQL Connector/J, Gson, and FlatLaf; configures compiler release targets and repeatable build executions.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Segoe UI"/>
              </a:defRPr>
            </a:pPr>
            <a:r>
              <a:t>5. METHODOLOGY</a:t>
            </a:r>
          </a:p>
          <a:p>
            <a:pPr>
              <a:defRPr sz="2200" b="1">
                <a:solidFill>
                  <a:srgbClr val="0F1E41"/>
                </a:solidFill>
                <a:latin typeface="Segoe UI"/>
              </a:defRPr>
            </a:pPr>
            <a:r>
              <a:t>Step-by-Step Operational System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Airline Management System  •  B.Tech CSE Project Presentation  •  Slide 10 of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627632"/>
            <a:ext cx="530352" cy="530352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572768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E41"/>
                </a:solidFill>
                <a:latin typeface="Segoe UI"/>
              </a:defRPr>
            </a:pPr>
            <a:r>
              <a:t>Step 1: User Login &amp; Role Routing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User supplies credentials on LoginFrame. LoginService authenticates against users table. Session branches into Passenger Portal or Admin Console.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2316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2587752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532888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E41"/>
                </a:solidFill>
                <a:latin typeface="Segoe UI"/>
              </a:defRPr>
            </a:pPr>
            <a:r>
              <a:t>Step 2: Flight Query &amp; Route Search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Passenger selects Origin, Destination, and Date. FlightService executes parameterized SQL query returning scheduled flights with live seats and fares.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8328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5840" y="3547872"/>
            <a:ext cx="530352" cy="530352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493008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E41"/>
                </a:solidFill>
                <a:latin typeface="Segoe UI"/>
              </a:defRPr>
            </a:pPr>
            <a:r>
              <a:t>Step 3: Cabin Seat Selection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System retrieves seat inventory via availableSeats(). Passenger selects specific seat from aircraft cabin grid (Business or Economy).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4340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" y="4507992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453128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E41"/>
                </a:solidFill>
                <a:latin typeface="Segoe UI"/>
              </a:defRPr>
            </a:pPr>
            <a:r>
              <a:t>Step 4: Atomic Booking Transaction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BookingService acquires row-level lock. Updates seat status to BOOKED, decrements available count, generates e-ticket, and creates notification.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0352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5468112"/>
            <a:ext cx="530352" cy="530352"/>
          </a:xfrm>
          <a:prstGeom prst="ellipse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413248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E41"/>
                </a:solidFill>
                <a:latin typeface="Segoe UI"/>
              </a:defRPr>
            </a:pPr>
            <a:r>
              <a:t>Step 5: Post-Booking AI Companion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TravelCompanionService reads latest confirmed booking destination. Constructs structured prompt and sends to Groq API via non-blocking SwingWorker.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Segoe UI"/>
              </a:defRPr>
            </a:pPr>
            <a:r>
              <a:t>5. METHODOLOGY</a:t>
            </a:r>
          </a:p>
          <a:p>
            <a:pPr>
              <a:defRPr sz="2200" b="1">
                <a:solidFill>
                  <a:srgbClr val="0F1E41"/>
                </a:solidFill>
                <a:latin typeface="Segoe UI"/>
              </a:defRPr>
            </a:pPr>
            <a:r>
              <a:t>JDBC Concurrency Control &amp; Groq API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Airline Management System  •  B.Tech CSE Project Presentation  •  Slide 11 of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E41"/>
                </a:solidFill>
                <a:latin typeface="Segoe UI"/>
              </a:defRPr>
            </a:pPr>
            <a:r>
              <a:t>JDBC Concurrency &amp; Transaction Model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1D4ED8"/>
                </a:solidFill>
                <a:latin typeface="Segoe UI"/>
              </a:rPr>
              <a:t>• Row-Level Locking (SELECT ... FOR UPDATE): </a:t>
            </a:r>
            <a:r>
              <a:rPr sz="1100">
                <a:solidFill>
                  <a:srgbClr val="0F172A"/>
                </a:solidFill>
                <a:latin typeface="Segoe UI"/>
              </a:rPr>
              <a:t>Prevents race conditions. When a passenger selects a seat, the SQL engine acquires an exclusive row lock on seats and flights until commit.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1D4ED8"/>
                </a:solidFill>
                <a:latin typeface="Segoe UI"/>
              </a:rPr>
              <a:t>• Strict Transaction Atomicity: </a:t>
            </a:r>
            <a:r>
              <a:rPr sz="1100">
                <a:solidFill>
                  <a:srgbClr val="0F172A"/>
                </a:solidFill>
                <a:latin typeface="Segoe UI"/>
              </a:rPr>
              <a:t>Connection auto-commit is disabled (`c.setAutoCommit(false)`). All 5 steps (validation, seat status, capacity update, ticket insertion, notification) succeed or fail together.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1D4ED8"/>
                </a:solidFill>
                <a:latin typeface="Segoe UI"/>
              </a:rPr>
              <a:t>• Automated Rollback Protection: </a:t>
            </a:r>
            <a:r>
              <a:rPr sz="1100">
                <a:solidFill>
                  <a:srgbClr val="0F172A"/>
                </a:solidFill>
                <a:latin typeface="Segoe UI"/>
              </a:rPr>
              <a:t>Any SQLException immediately triggers `c.rollback()`, guaranteeing zero orphaned bookings or corrupted inventory counts.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1D4ED8"/>
                </a:solidFill>
                <a:latin typeface="Segoe UI"/>
              </a:rPr>
              <a:t>• Instant Inventory Restoration: </a:t>
            </a:r>
            <a:r>
              <a:rPr sz="1100">
                <a:solidFill>
                  <a:srgbClr val="0F172A"/>
                </a:solidFill>
                <a:latin typeface="Segoe UI"/>
              </a:rPr>
              <a:t>Cancellation executes in a single transaction: updates booking to CANCELLED, restores seat to AVAILABLE, and increments flight available_seats count.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E41"/>
                </a:solidFill>
                <a:latin typeface="Segoe UI"/>
              </a:defRPr>
            </a:pPr>
            <a:r>
              <a:t>Groq Cloud API &amp; Threading Architecture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D9488"/>
                </a:solidFill>
                <a:latin typeface="Segoe UI"/>
              </a:rPr>
              <a:t>• Asynchronous SwingWorker Threading: </a:t>
            </a:r>
            <a:r>
              <a:rPr sz="1100">
                <a:solidFill>
                  <a:srgbClr val="0F172A"/>
                </a:solidFill>
                <a:latin typeface="Segoe UI"/>
              </a:rPr>
              <a:t>Network calls to Groq API run on dedicated background threads, decoupling network latency from the Swing Event Dispatch Thread (EDT) for butter-smooth UI.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D9488"/>
                </a:solidFill>
                <a:latin typeface="Segoe UI"/>
              </a:rPr>
              <a:t>• Automated Destination Detection: </a:t>
            </a:r>
            <a:r>
              <a:rPr sz="1100">
                <a:solidFill>
                  <a:srgbClr val="0F172A"/>
                </a:solidFill>
                <a:latin typeface="Segoe UI"/>
              </a:rPr>
              <a:t>The service queries the passenger's most recent confirmed booking destination (`getLatestDestination()`) and pre-fills the AI query automatically.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D9488"/>
                </a:solidFill>
                <a:latin typeface="Segoe UI"/>
              </a:rPr>
              <a:t>• Engineered System Prompting: </a:t>
            </a:r>
            <a:r>
              <a:rPr sz="1100">
                <a:solidFill>
                  <a:srgbClr val="0F172A"/>
                </a:solidFill>
                <a:latin typeface="Segoe UI"/>
              </a:rPr>
              <a:t>Sends structured prompt requesting: Top Attractions, Local Food, Transit Tips, Packing Needs, and Safety Precautions formatted for concise mobile/desktop scanning.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D9488"/>
                </a:solidFill>
                <a:latin typeface="Segoe UI"/>
              </a:rPr>
              <a:t>• Resilient Environment Security: </a:t>
            </a:r>
            <a:r>
              <a:rPr sz="1100">
                <a:solidFill>
                  <a:srgbClr val="0F172A"/>
                </a:solidFill>
                <a:latin typeface="Segoe UI"/>
              </a:rPr>
              <a:t>API key is read strictly from `System.getenv('GROQ_API_KEY')`—never committed to source control. Friendly fallback UI alerts if key is unset.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Segoe UI"/>
              </a:defRPr>
            </a:pPr>
            <a:r>
              <a:t>6. IMPLEMENTATION</a:t>
            </a:r>
          </a:p>
          <a:p>
            <a:pPr>
              <a:defRPr sz="2200" b="1">
                <a:solidFill>
                  <a:srgbClr val="0F1E41"/>
                </a:solidFill>
                <a:latin typeface="Segoe UI"/>
              </a:defRPr>
            </a:pPr>
            <a:r>
              <a:t>Authentication &amp; Application Portal Shell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Airline Management System  •  B.Tech CSE Project Presentation  •  Slide 12 of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7548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206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E41"/>
                </a:solidFill>
                <a:latin typeface="Segoe UI"/>
              </a:defRPr>
            </a:pPr>
            <a:r>
              <a:t>Login &amp; User Portal Architecture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1D4ED8"/>
                </a:solidFill>
                <a:latin typeface="Segoe UI"/>
              </a:rPr>
              <a:t>• LoginFrame Implementation: </a:t>
            </a:r>
            <a:r>
              <a:rPr sz="1100">
                <a:solidFill>
                  <a:srgbClr val="0F172A"/>
                </a:solidFill>
                <a:latin typeface="Segoe UI"/>
              </a:rPr>
              <a:t>Features a split-panel airline visual design: left navy welcome banner highlighting key features and right card with styled authentication inputs.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1D4ED8"/>
                </a:solidFill>
                <a:latin typeface="Segoe UI"/>
              </a:rPr>
              <a:t>• Role-Based Privileges: </a:t>
            </a:r>
            <a:r>
              <a:rPr sz="1100">
                <a:solidFill>
                  <a:srgbClr val="0F172A"/>
                </a:solidFill>
                <a:latin typeface="Segoe UI"/>
              </a:rPr>
              <a:t>Distinguishes PASSENGER and ADMIN roles at authentication. Admins route to Fleet Operations; Passengers route to Booking Portal.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1D4ED8"/>
                </a:solidFill>
                <a:latin typeface="Segoe UI"/>
              </a:rPr>
              <a:t>• Passenger Self-Registration: </a:t>
            </a:r>
            <a:r>
              <a:rPr sz="1100">
                <a:solidFill>
                  <a:srgbClr val="0F172A"/>
                </a:solidFill>
                <a:latin typeface="Segoe UI"/>
              </a:rPr>
              <a:t>Interactive modal form capturing Username, Password, First/Last Name, Email, and Phone with client validation before SQL insertion.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1D4ED8"/>
                </a:solidFill>
                <a:latin typeface="Segoe UI"/>
              </a:rPr>
              <a:t>• Security &amp; Validation: </a:t>
            </a:r>
            <a:r>
              <a:rPr sz="1100">
                <a:solidFill>
                  <a:srgbClr val="0F172A"/>
                </a:solidFill>
                <a:latin typeface="Segoe UI"/>
              </a:rPr>
              <a:t>Empty field guards, input trimming, and password field clearing on authentication failure.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463040"/>
            <a:ext cx="56692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_login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600200"/>
            <a:ext cx="5394960" cy="326206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60720" y="580644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4748B"/>
                </a:solidFill>
                <a:latin typeface="Segoe UI"/>
              </a:defRPr>
            </a:pPr>
            <a:r>
              <a:t>Fig 1: Implemented Login Screen with Role-based Authentication and Branded Sidebar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Segoe UI"/>
              </a:defRPr>
            </a:pPr>
            <a:r>
              <a:t>6. IMPLEMENTATION</a:t>
            </a:r>
          </a:p>
          <a:p>
            <a:pPr>
              <a:defRPr sz="2200" b="1">
                <a:solidFill>
                  <a:srgbClr val="0F1E41"/>
                </a:solidFill>
                <a:latin typeface="Segoe UI"/>
              </a:defRPr>
            </a:pPr>
            <a:r>
              <a:t>Flight Search, Seating &amp; Reservation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Airline Management System  •  B.Tech CSE Project Presentation  •  Slide 13 of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3891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023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E41"/>
                </a:solidFill>
                <a:latin typeface="Segoe UI"/>
              </a:defRPr>
            </a:pPr>
            <a:r>
              <a:t>Passenger Experience Modules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0D9488"/>
                </a:solidFill>
                <a:latin typeface="Segoe UI"/>
              </a:rPr>
              <a:t>• Multi-Criteria Flight Search: </a:t>
            </a:r>
            <a:r>
              <a:rPr sz="1050">
                <a:solidFill>
                  <a:srgbClr val="0F172A"/>
                </a:solidFill>
                <a:latin typeface="Segoe UI"/>
              </a:rPr>
              <a:t>Origin, Destination, and Date filtering with instant scheduled flights rendering.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0D9488"/>
                </a:solidFill>
                <a:latin typeface="Segoe UI"/>
              </a:rPr>
              <a:t>• Visual Cabin Seat Selector: </a:t>
            </a:r>
            <a:r>
              <a:rPr sz="1050">
                <a:solidFill>
                  <a:srgbClr val="0F172A"/>
                </a:solidFill>
                <a:latin typeface="Segoe UI"/>
              </a:rPr>
              <a:t>Interactive aircraft cabin map with Cockpit orientation, Business Class (Row A) and Economy Class (Rows B+) seats.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0D9488"/>
                </a:solidFill>
                <a:latin typeface="Segoe UI"/>
              </a:rPr>
              <a:t>• Live Seat Status Highlighting: </a:t>
            </a:r>
            <a:r>
              <a:rPr sz="1050">
                <a:solidFill>
                  <a:srgbClr val="0F172A"/>
                </a:solidFill>
                <a:latin typeface="Segoe UI"/>
              </a:rPr>
              <a:t>Color-coded seat availability (Business purple, Economy blue, Selected royal blue).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0D9488"/>
                </a:solidFill>
                <a:latin typeface="Segoe UI"/>
              </a:rPr>
              <a:t>• My Bookings &amp; E-Tickets: </a:t>
            </a:r>
            <a:r>
              <a:rPr sz="1050">
                <a:solidFill>
                  <a:srgbClr val="0F172A"/>
                </a:solidFill>
                <a:latin typeface="Segoe UI"/>
              </a:rPr>
              <a:t>Booking history table with live status badges (CONFIRMED in green, CANCELLED in red) and 1-click boarding pass view.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0D9488"/>
                </a:solidFill>
                <a:latin typeface="Segoe UI"/>
              </a:rPr>
              <a:t>• Instant Cancellation Pipeline: </a:t>
            </a:r>
            <a:r>
              <a:rPr sz="1050">
                <a:solidFill>
                  <a:srgbClr val="0F172A"/>
                </a:solidFill>
                <a:latin typeface="Segoe UI"/>
              </a:rPr>
              <a:t>Cancels reservation and releases seat inventory in a single atomic transaction.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463040"/>
            <a:ext cx="61264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2_passenger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554480"/>
            <a:ext cx="5943600" cy="382808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03520" y="3886200"/>
            <a:ext cx="61264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3_flight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3977639"/>
            <a:ext cx="5943600" cy="382808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Segoe UI"/>
              </a:defRPr>
            </a:pPr>
            <a:r>
              <a:t>6. IMPLEMENTATION</a:t>
            </a:r>
          </a:p>
          <a:p>
            <a:pPr>
              <a:defRPr sz="2200" b="1">
                <a:solidFill>
                  <a:srgbClr val="0F1E41"/>
                </a:solidFill>
                <a:latin typeface="Segoe UI"/>
              </a:defRPr>
            </a:pPr>
            <a:r>
              <a:t>Admin Fleet Management &amp; AI Travel Companion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Airline Management System  •  B.Tech CSE Project Presentation  •  Slide 14 of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3891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023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E41"/>
                </a:solidFill>
                <a:latin typeface="Segoe UI"/>
              </a:defRPr>
            </a:pPr>
            <a:r>
              <a:t>Admin Fleet &amp; AI Modules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D4ED8"/>
                </a:solidFill>
                <a:latin typeface="Segoe UI"/>
              </a:rPr>
              <a:t>• Executive Admin Dashboard: </a:t>
            </a:r>
            <a:r>
              <a:rPr sz="1050">
                <a:solidFill>
                  <a:srgbClr val="0F172A"/>
                </a:solidFill>
                <a:latin typeface="Segoe UI"/>
              </a:rPr>
              <a:t>Real-time KPI metrics displaying Total Registered Flights, Active Scheduled Routes, and Registered Passengers.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D4ED8"/>
                </a:solidFill>
                <a:latin typeface="Segoe UI"/>
              </a:rPr>
              <a:t>• Flight Route Management: </a:t>
            </a:r>
            <a:r>
              <a:rPr sz="1050">
                <a:solidFill>
                  <a:srgbClr val="0F172A"/>
                </a:solidFill>
                <a:latin typeface="Segoe UI"/>
              </a:rPr>
              <a:t>Schedule new domestic flights with automated seat generation across Business and Economy classes.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D4ED8"/>
                </a:solidFill>
                <a:latin typeface="Segoe UI"/>
              </a:rPr>
              <a:t>• Passenger Directory: </a:t>
            </a:r>
            <a:r>
              <a:rPr sz="1050">
                <a:solidFill>
                  <a:srgbClr val="0F172A"/>
                </a:solidFill>
                <a:latin typeface="Segoe UI"/>
              </a:rPr>
              <a:t>Searchable manifest of all registered passengers, contact details, and passport records.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D4ED8"/>
                </a:solidFill>
                <a:latin typeface="Segoe UI"/>
              </a:rPr>
              <a:t>• Notification Center: </a:t>
            </a:r>
            <a:r>
              <a:rPr sz="1050">
                <a:solidFill>
                  <a:srgbClr val="0F172A"/>
                </a:solidFill>
                <a:latin typeface="Segoe UI"/>
              </a:rPr>
              <a:t>Visual alerts for booking confirmations, cancellations, and flight reminders with unread tracking.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D4ED8"/>
                </a:solidFill>
                <a:latin typeface="Segoe UI"/>
              </a:rPr>
              <a:t>• Smart Travel Companion: </a:t>
            </a:r>
            <a:r>
              <a:rPr sz="1050">
                <a:solidFill>
                  <a:srgbClr val="0F172A"/>
                </a:solidFill>
                <a:latin typeface="Segoe UI"/>
              </a:rPr>
              <a:t>Destination guide generation powered by Groq API with line-wrapped text, loading indicator, and clipboard copying.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463040"/>
            <a:ext cx="61264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8_admin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554480"/>
            <a:ext cx="5943600" cy="382808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03520" y="3886200"/>
            <a:ext cx="61264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6_travel_compan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3977639"/>
            <a:ext cx="5943600" cy="382808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Segoe UI"/>
              </a:defRPr>
            </a:pPr>
            <a:r>
              <a:t>7. RESULTS &amp; VERIFICATION</a:t>
            </a:r>
          </a:p>
          <a:p>
            <a:pPr>
              <a:defRPr sz="2200" b="1">
                <a:solidFill>
                  <a:srgbClr val="0F1E41"/>
                </a:solidFill>
                <a:latin typeface="Segoe UI"/>
              </a:defRPr>
            </a:pPr>
            <a:r>
              <a:t>Functional Test Cases &amp; Verification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Airline Management System  •  B.Tech CSE Project Presentation  •  Slide 15 of 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3108960"/>
                <a:gridCol w="3322015"/>
                <a:gridCol w="1371600"/>
              </a:tblGrid>
              <a:tr h="5181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Test ID</a:t>
                      </a:r>
                    </a:p>
                  </a:txBody>
                  <a:tcPr>
                    <a:solidFill>
                      <a:srgbClr val="1830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1830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Test Scenario</a:t>
                      </a:r>
                    </a:p>
                  </a:txBody>
                  <a:tcPr>
                    <a:solidFill>
                      <a:srgbClr val="1830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Expected &amp; Actual Result</a:t>
                      </a:r>
                    </a:p>
                  </a:txBody>
                  <a:tcPr>
                    <a:solidFill>
                      <a:srgbClr val="1830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8305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E41"/>
                          </a:solidFill>
                          <a:latin typeface="Segoe UI"/>
                        </a:defRPr>
                      </a:pPr>
                      <a:r>
                        <a:t>TC-01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Authentication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Valid passenger login (kezia / kezia123)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Authenticated successfully; routed to Passenger Portal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E41"/>
                          </a:solidFill>
                          <a:latin typeface="Segoe UI"/>
                        </a:defRPr>
                      </a:pPr>
                      <a:r>
                        <a:t>TC-02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Authentication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Invalid password check (admin / wrongpass)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Authentication blocked; warning dialog displayed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E41"/>
                          </a:solidFill>
                          <a:latin typeface="Segoe UI"/>
                        </a:defRPr>
                      </a:pPr>
                      <a:r>
                        <a:t>TC-03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Flight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Filter Kochi to Bangalore on 2026-10-15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Matching flight AI101 returned with live seat availability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E41"/>
                          </a:solidFill>
                          <a:latin typeface="Segoe UI"/>
                        </a:defRPr>
                      </a:pPr>
                      <a:r>
                        <a:t>TC-04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Seat Reservation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Select Business seat A1 on flight AI101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Seat allocated; capacity decremented; booking confirmed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E41"/>
                          </a:solidFill>
                          <a:latin typeface="Segoe UI"/>
                        </a:defRPr>
                      </a:pPr>
                      <a:r>
                        <a:t>TC-05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Concurrency Guard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Attempt duplicate booking on occupied seat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Locked by row-level constraint; collision prevented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E41"/>
                          </a:solidFill>
                          <a:latin typeface="Segoe UI"/>
                        </a:defRPr>
                      </a:pPr>
                      <a:r>
                        <a:t>TC-06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Cancellation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Cancel confirmed booking via booking 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Booking marked CANCELLED; seat returned to inventory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E41"/>
                          </a:solidFill>
                          <a:latin typeface="Segoe UI"/>
                        </a:defRPr>
                      </a:pPr>
                      <a:r>
                        <a:t>TC-07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E-Ticketing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Retrieve boarding pass for confirmed booking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Boarding pass generated with flight and passenger info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E41"/>
                          </a:solidFill>
                          <a:latin typeface="Segoe UI"/>
                        </a:defRPr>
                      </a:pPr>
                      <a:r>
                        <a:t>TC-08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AI Companion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Generate travel guide for confirmed destination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Groq API stream received via SwingWorker; rendered in UI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Segoe UI"/>
              </a:defRPr>
            </a:pPr>
            <a:r>
              <a:t>7. RESULTS &amp; VERIFICATION</a:t>
            </a:r>
          </a:p>
          <a:p>
            <a:pPr>
              <a:defRPr sz="2200" b="1">
                <a:solidFill>
                  <a:srgbClr val="0F1E41"/>
                </a:solidFill>
                <a:latin typeface="Segoe UI"/>
              </a:defRPr>
            </a:pPr>
            <a:r>
              <a:t>System Performance, Reliability &amp; Data Integrity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Airline Management System  •  B.Tech CSE Project Presentation  •  Slide 16 of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3383280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JDK 21 MAVEN BUILD TIME</a:t>
            </a:r>
          </a:p>
          <a:p>
            <a:pPr>
              <a:spcBef>
                <a:spcPts val="400"/>
              </a:spcBef>
              <a:defRPr sz="2400" b="1">
                <a:solidFill>
                  <a:srgbClr val="0F1E41"/>
                </a:solidFill>
                <a:latin typeface="Segoe UI"/>
              </a:defRPr>
            </a:pPr>
            <a:r>
              <a:t>1.12 Seconds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t>Build &amp; Compilation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100% clean compilation across all 12 source files with javac release target 21.</a:t>
            </a:r>
            <a:br/>
            <a:r>
              <a:t>• Zero deprecated warnings or compilation errors.</a:t>
            </a:r>
            <a:br/>
            <a:r>
              <a:t>• Declarative dependency management using FlatLaf 3.5.4, MySQL Connector/J 9.4.0, and Gson 2.13.2.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338328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9164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Segoe UI"/>
              </a:defRPr>
            </a:pPr>
            <a:r>
              <a:t>EVENT DISPATCH LATENCY</a:t>
            </a:r>
          </a:p>
          <a:p>
            <a:pPr>
              <a:spcBef>
                <a:spcPts val="400"/>
              </a:spcBef>
              <a:defRPr sz="2400" b="1">
                <a:solidFill>
                  <a:srgbClr val="0F1E41"/>
                </a:solidFill>
                <a:latin typeface="Segoe UI"/>
              </a:defRPr>
            </a:pPr>
            <a:r>
              <a:t>&lt; 50 Milliseconds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t>UI Responsiveness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100% decoupled Swing Event Dispatch Thread (EDT).</a:t>
            </a:r>
            <a:br/>
            <a:r>
              <a:t>• Database read/write operations and Groq API calls execute off-thread on SwingWorker or background daemon threads.</a:t>
            </a:r>
            <a:br/>
            <a:r>
              <a:t>• Butter-smooth modal animations, tab transitions, and table updates without UI freezing.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463040"/>
            <a:ext cx="3383280" cy="9144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69164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E41"/>
                </a:solidFill>
                <a:latin typeface="Segoe UI"/>
              </a:defRPr>
            </a:pPr>
            <a:r>
              <a:t>RELATIONAL CONCURRENCY</a:t>
            </a:r>
          </a:p>
          <a:p>
            <a:pPr>
              <a:spcBef>
                <a:spcPts val="400"/>
              </a:spcBef>
              <a:defRPr sz="2400" b="1">
                <a:solidFill>
                  <a:srgbClr val="0F1E41"/>
                </a:solidFill>
                <a:latin typeface="Segoe UI"/>
              </a:defRPr>
            </a:pPr>
            <a:r>
              <a:t>100% ACID Enforced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t>Database Integrity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• Verified 8 relational tables with cascade foreign keys.</a:t>
            </a:r>
            <a:br/>
            <a:r>
              <a:t>• Zero duplicate passenger entries; all 4 team members safely stored with exact names (Kezia Shaji, Nanditha S, Sheikha Nizam, Suryadev TP).</a:t>
            </a:r>
            <a:br/>
            <a:r>
              <a:t>• Rollback guarantee ensures zero ghost seats or orphaned tickets.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Segoe UI"/>
              </a:defRPr>
            </a:pPr>
            <a:r>
              <a:t>8. PROJECT DEMONSTRATION</a:t>
            </a:r>
          </a:p>
          <a:p>
            <a:pPr>
              <a:defRPr sz="2200" b="1">
                <a:solidFill>
                  <a:srgbClr val="0F1E41"/>
                </a:solidFill>
                <a:latin typeface="Segoe UI"/>
              </a:defRPr>
            </a:pPr>
            <a:r>
              <a:t>Demonstration Video &amp; Viva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Airline Management System  •  B.Tech CSE Project Presentation  •  Slide 17 of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4864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737360"/>
            <a:ext cx="4937760" cy="292608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017520" y="2651760"/>
            <a:ext cx="914400" cy="9144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FFFFF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84632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D4ED8"/>
                </a:solidFill>
                <a:latin typeface="Segoe UI"/>
              </a:defRPr>
            </a:pPr>
            <a:r>
              <a:t>[ 30–60 SECOND WORKING DEMONSTRATION VIDEO ]</a:t>
            </a:r>
          </a:p>
          <a:p>
            <a:pPr algn="ctr"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Reserved placeholder for live presentation video clip or live execution.</a:t>
            </a:r>
            <a:br/>
            <a:r>
              <a:t>Run Command: mvn clean compile exec:java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463040"/>
            <a:ext cx="49377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E41"/>
                </a:solidFill>
                <a:latin typeface="Segoe UI"/>
              </a:defRPr>
            </a:pPr>
            <a:r>
              <a:t>Viva Demonstration Sequence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1D4ED8"/>
                </a:solidFill>
                <a:latin typeface="Segoe UI"/>
              </a:rPr>
              <a:t>1. Secure Login: </a:t>
            </a:r>
            <a:r>
              <a:rPr sz="1100">
                <a:solidFill>
                  <a:srgbClr val="0F172A"/>
                </a:solidFill>
                <a:latin typeface="Segoe UI"/>
              </a:rPr>
              <a:t>Authenticate passenger (`kezia`) and demonstrate admin role (`admin`).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1D4ED8"/>
                </a:solidFill>
                <a:latin typeface="Segoe UI"/>
              </a:rPr>
              <a:t>2. Dashboard Shell: </a:t>
            </a:r>
            <a:r>
              <a:rPr sz="1100">
                <a:solidFill>
                  <a:srgbClr val="0F172A"/>
                </a:solidFill>
                <a:latin typeface="Segoe UI"/>
              </a:rPr>
              <a:t>Examine KPI cards (Confirmed Bookings, Routes, Alerts).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1D4ED8"/>
                </a:solidFill>
                <a:latin typeface="Segoe UI"/>
              </a:rPr>
              <a:t>3. Flight Query: </a:t>
            </a:r>
            <a:r>
              <a:rPr sz="1100">
                <a:solidFill>
                  <a:srgbClr val="0F172A"/>
                </a:solidFill>
                <a:latin typeface="Segoe UI"/>
              </a:rPr>
              <a:t>Filter scheduled routes from Kochi (COK) to Bangalore (BLR).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1D4ED8"/>
                </a:solidFill>
                <a:latin typeface="Segoe UI"/>
              </a:rPr>
              <a:t>4. Cabin Seating: </a:t>
            </a:r>
            <a:r>
              <a:rPr sz="1100">
                <a:solidFill>
                  <a:srgbClr val="0F172A"/>
                </a:solidFill>
                <a:latin typeface="Segoe UI"/>
              </a:rPr>
              <a:t>Launch aircraft seating chart; select Business/Economy seat.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1D4ED8"/>
                </a:solidFill>
                <a:latin typeface="Segoe UI"/>
              </a:rPr>
              <a:t>5. E-Ticket View: </a:t>
            </a:r>
            <a:r>
              <a:rPr sz="1100">
                <a:solidFill>
                  <a:srgbClr val="0F172A"/>
                </a:solidFill>
                <a:latin typeface="Segoe UI"/>
              </a:rPr>
              <a:t>Inspect boarding pass with route, passenger, and seat code.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1D4ED8"/>
                </a:solidFill>
                <a:latin typeface="Segoe UI"/>
              </a:rPr>
              <a:t>6. Notification Check: </a:t>
            </a:r>
            <a:r>
              <a:rPr sz="1100">
                <a:solidFill>
                  <a:srgbClr val="0F172A"/>
                </a:solidFill>
                <a:latin typeface="Segoe UI"/>
              </a:rPr>
              <a:t>Verify instant in-app booking confirmation alert.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1D4ED8"/>
                </a:solidFill>
                <a:latin typeface="Segoe UI"/>
              </a:rPr>
              <a:t>7. Smart Companion: </a:t>
            </a:r>
            <a:r>
              <a:rPr sz="1100">
                <a:solidFill>
                  <a:srgbClr val="0F172A"/>
                </a:solidFill>
                <a:latin typeface="Segoe UI"/>
              </a:rPr>
              <a:t>Generate live AI destination travel guide using Groq API.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Segoe UI"/>
              </a:defRPr>
            </a:pPr>
            <a:r>
              <a:t>9. APPLICATIONS</a:t>
            </a:r>
          </a:p>
          <a:p>
            <a:pPr>
              <a:defRPr sz="2200" b="1">
                <a:solidFill>
                  <a:srgbClr val="0F1E41"/>
                </a:solidFill>
                <a:latin typeface="Segoe UI"/>
              </a:defRPr>
            </a:pPr>
            <a:r>
              <a:t>Practical Real-World Application Domains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Airline Management System  •  B.Tech CSE Project Presentation  •  Slide 18 of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09728" cy="19659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00200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STUDY TOURS &amp; INDUSTRIAL VISITS</a:t>
            </a:r>
          </a:p>
          <a:p>
            <a:pPr>
              <a:spcBef>
                <a:spcPts val="200"/>
              </a:spcBef>
              <a:defRPr sz="1400" b="1">
                <a:solidFill>
                  <a:srgbClr val="0F1E41"/>
                </a:solidFill>
                <a:latin typeface="Segoe UI"/>
              </a:defRPr>
            </a:pPr>
            <a:r>
              <a:t>Educational Institutions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Centralized coordination of university group flight travel, student manifest auditing, bulk seat block reservation, and administrative faculty reporting without commercial agency markups.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109728" cy="1965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00200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Segoe UI"/>
              </a:defRPr>
            </a:pPr>
            <a:r>
              <a:t>INDEPENDENT TRAVEL DESKS</a:t>
            </a:r>
          </a:p>
          <a:p>
            <a:pPr>
              <a:spcBef>
                <a:spcPts val="200"/>
              </a:spcBef>
              <a:defRPr sz="1400" b="1">
                <a:solidFill>
                  <a:srgbClr val="0F1E41"/>
                </a:solidFill>
                <a:latin typeface="Segoe UI"/>
              </a:defRPr>
            </a:pPr>
            <a:r>
              <a:t>Regional Flight Agencies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Lightweight, offline-resilient desktop terminal for regional flight aggregators and charter flight operators who require instant local booking control without hefty cloud ERP subscriptions.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11880"/>
            <a:ext cx="52120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611880"/>
            <a:ext cx="109728" cy="196596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749040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E41"/>
                </a:solidFill>
                <a:latin typeface="Segoe UI"/>
              </a:defRPr>
            </a:pPr>
            <a:r>
              <a:t>ENTERPRISE FLIGHT AUDITING</a:t>
            </a:r>
          </a:p>
          <a:p>
            <a:pPr>
              <a:spcBef>
                <a:spcPts val="200"/>
              </a:spcBef>
              <a:defRPr sz="1400" b="1">
                <a:solidFill>
                  <a:srgbClr val="0F1E41"/>
                </a:solidFill>
                <a:latin typeface="Segoe UI"/>
              </a:defRPr>
            </a:pPr>
            <a:r>
              <a:t>Corporate Travel Desks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Internal enterprise dispatch managing employee domestic itineraries, budget tracking, transparent cancellation pipelines, and automated company e-ticket archiving.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611880"/>
            <a:ext cx="52120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611880"/>
            <a:ext cx="109728" cy="19659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749040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DIRECT BOOKING &amp; AI GUIDANCE</a:t>
            </a:r>
          </a:p>
          <a:p>
            <a:pPr>
              <a:spcBef>
                <a:spcPts val="200"/>
              </a:spcBef>
              <a:defRPr sz="1400" b="1">
                <a:solidFill>
                  <a:srgbClr val="0F1E41"/>
                </a:solidFill>
                <a:latin typeface="Segoe UI"/>
              </a:defRPr>
            </a:pPr>
            <a:r>
              <a:t>Passenger Self-Service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End-user kiosk or personal workstation application providing transparent fare checks, interactive cabin seating clarity, and instant AI travel assistance for unfamiliar destinations.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623560"/>
            <a:ext cx="10728655" cy="6400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687568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SCOPE BOUNDARY: Currently implemented as a high-performance Java Desktop Application with centralized MySQL relational persistence. Can be packaged for cross-platform distribution (macOS, Windows, Linux) via jpackage / native installers.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Segoe UI"/>
              </a:defRPr>
            </a:pPr>
            <a:r>
              <a:t>10. FUTURE SCOPE</a:t>
            </a:r>
          </a:p>
          <a:p>
            <a:pPr>
              <a:defRPr sz="2200" b="1">
                <a:solidFill>
                  <a:srgbClr val="0F1E41"/>
                </a:solidFill>
                <a:latin typeface="Segoe UI"/>
              </a:defRPr>
            </a:pPr>
            <a:r>
              <a:t>Future Enhancements &amp; Scalability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Airline Management System  •  B.Tech CSE Project Presentation  •  Slide 19 of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755648"/>
            <a:ext cx="274320" cy="27432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1572768"/>
            <a:ext cx="96926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E41"/>
                </a:solidFill>
                <a:latin typeface="Segoe UI"/>
              </a:defRPr>
            </a:pPr>
            <a:r>
              <a:t>Live Global Aviation APIs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Integrate commercial flight tracking endpoints (e.g., FlightAware / Amadeus) for live radar flight status and automated delay schedule alerts.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2316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2715768"/>
            <a:ext cx="274320" cy="2743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2532888"/>
            <a:ext cx="96926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E41"/>
                </a:solidFill>
                <a:latin typeface="Segoe UI"/>
              </a:defRPr>
            </a:pPr>
            <a:r>
              <a:t>Digital Payment Gateway Integration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Incorporate sandboxed payment gateways (Razorpay, Stripe) with webhook verification for automated billing and instant refund settlement.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8328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560" y="3675888"/>
            <a:ext cx="274320" cy="27432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3493008"/>
            <a:ext cx="96926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E41"/>
                </a:solidFill>
                <a:latin typeface="Segoe UI"/>
              </a:defRPr>
            </a:pPr>
            <a:r>
              <a:t>Omnichannel Passenger Messaging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Automate SMS (Twilio) and transactional email (SMTP / SendGrid) pipelines to dispatch boarding pass links and gate changes directly to passenger phones.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4340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1560" y="4636008"/>
            <a:ext cx="274320" cy="2743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08760" y="4453128"/>
            <a:ext cx="96926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E41"/>
                </a:solidFill>
                <a:latin typeface="Segoe UI"/>
              </a:defRPr>
            </a:pPr>
            <a:r>
              <a:t>2D QR &amp; Aztec Barcode E-Tickets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Integrate Apache PDFBox / ZXing to generate printable boarding passes featuring standard IATA 2D barcodes for physical airport scanner validation.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0352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" y="5596128"/>
            <a:ext cx="274320" cy="274320"/>
          </a:xfrm>
          <a:prstGeom prst="ellipse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08760" y="5413248"/>
            <a:ext cx="96926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E41"/>
                </a:solidFill>
                <a:latin typeface="Segoe UI"/>
              </a:defRPr>
            </a:pPr>
            <a:r>
              <a:t>On-Device Offline LLM Companion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Deploy quantized local language models via Ollama / ONNX Runtime to provide continuous destination intelligence without requiring active internet connectivity.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Segoe UI"/>
              </a:defRPr>
            </a:pPr>
            <a:r>
              <a:t>11. CONCLUSION</a:t>
            </a:r>
          </a:p>
          <a:p>
            <a:pPr>
              <a:defRPr sz="2200" b="1">
                <a:solidFill>
                  <a:srgbClr val="0F1E41"/>
                </a:solidFill>
                <a:latin typeface="Segoe UI"/>
              </a:defRPr>
            </a:pPr>
            <a:r>
              <a:t>Project Conclusion &amp; Engineering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Airline Management System  •  B.Tech CSE Project Presentation  •  Slide 20 of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3383280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DESKTOP PERFORMANCE + RELATIONAL ACID</a:t>
            </a:r>
          </a:p>
          <a:p>
            <a:pPr>
              <a:spcBef>
                <a:spcPts val="400"/>
              </a:spcBef>
              <a:defRPr sz="1500" b="1">
                <a:solidFill>
                  <a:srgbClr val="0F1E41"/>
                </a:solidFill>
                <a:latin typeface="Segoe UI"/>
              </a:defRPr>
            </a:pPr>
            <a:r>
              <a:t>Architectural Harmony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Successfully proved that combining Java 21, Java Swing, FlatLaf, and MySQL via JDBC delivers an ultra-responsive, crash-resilient desktop management suite without web browser latency.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338328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9164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Segoe UI"/>
              </a:defRPr>
            </a:pPr>
            <a:r>
              <a:t>FAIL-SAFE SEAT ALLOCATION</a:t>
            </a:r>
          </a:p>
          <a:p>
            <a:pPr>
              <a:spcBef>
                <a:spcPts val="400"/>
              </a:spcBef>
              <a:defRPr sz="1500" b="1">
                <a:solidFill>
                  <a:srgbClr val="0F1E41"/>
                </a:solidFill>
                <a:latin typeface="Segoe UI"/>
              </a:defRPr>
            </a:pPr>
            <a:r>
              <a:t>Zero-Collision Concurrency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Implemented row-level transaction locks ensuring that simultaneous booking attempts never overbook seats and that cancellations immediately restore inventory automatically.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3832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463040"/>
            <a:ext cx="3383280" cy="91440"/>
          </a:xfrm>
          <a:prstGeom prst="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69164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E41"/>
                </a:solidFill>
                <a:latin typeface="Segoe UI"/>
              </a:defRPr>
            </a:pPr>
            <a:r>
              <a:t>SEAMLESS CONTEXTUAL INTELLIGENCE</a:t>
            </a:r>
          </a:p>
          <a:p>
            <a:pPr>
              <a:spcBef>
                <a:spcPts val="400"/>
              </a:spcBef>
              <a:defRPr sz="1500" b="1">
                <a:solidFill>
                  <a:srgbClr val="0F1E41"/>
                </a:solidFill>
                <a:latin typeface="Segoe UI"/>
              </a:defRPr>
            </a:pPr>
            <a:r>
              <a:t>Generative AI Enrichment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Demonstrated how modern Large Language Models (Groq API openai/gpt-oss-120b) can be cleanly integrated into desktop software using non-blocking background workers to elevate the passenger journey.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37760"/>
            <a:ext cx="10728655" cy="1280160"/>
          </a:xfrm>
          <a:prstGeom prst="roundRect">
            <a:avLst/>
          </a:prstGeom>
          <a:solidFill>
            <a:srgbClr val="183059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02920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FINAL ENGINEERING IMPACT STATEMENT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“The Airline Management System demonstrates that desktop software engineering—when reinforced with modern visual aesthetics, strict ACID concurrency control, and low-latency generative AI—provides a highly capable, reliable, and user-centric alternative to complex cloud portals for flight operations.”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Segoe UI"/>
              </a:defRPr>
            </a:pPr>
            <a:r>
              <a:t>12. REFERENCES</a:t>
            </a:r>
          </a:p>
          <a:p>
            <a:pPr>
              <a:defRPr sz="2200" b="1">
                <a:solidFill>
                  <a:srgbClr val="0F1E41"/>
                </a:solidFill>
                <a:latin typeface="Segoe UI"/>
              </a:defRPr>
            </a:pPr>
            <a:r>
              <a:t>Academic Literature &amp; Technical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Airline Management System  •  B.Tech CSE Project Presentation  •  Slide 21 of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E41"/>
                </a:solidFill>
                <a:latin typeface="Segoe UI"/>
              </a:defRPr>
            </a:pPr>
            <a:r>
              <a:t>Verified Academic Literature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1D4ED8"/>
                </a:solidFill>
                <a:latin typeface="Segoe UI"/>
              </a:rPr>
              <a:t>[1] Belobaba, P. P.
</a:t>
            </a:r>
            <a:r>
              <a:rPr sz="1050">
                <a:solidFill>
                  <a:srgbClr val="0F172A"/>
                </a:solidFill>
                <a:latin typeface="Segoe UI"/>
              </a:rPr>
              <a:t>Application of a Probabilistic Decision Model to Airline Seat Inventory Control, Operations Research, MIT Flight Transportation Laboratory.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1D4ED8"/>
                </a:solidFill>
                <a:latin typeface="Segoe UI"/>
              </a:rPr>
              <a:t>[2] Al-Sultanny, Y. A. &amp; Al-Zuhair, M. A.
</a:t>
            </a:r>
            <a:r>
              <a:rPr sz="1050">
                <a:solidFill>
                  <a:srgbClr val="0F172A"/>
                </a:solidFill>
                <a:latin typeface="Segoe UI"/>
              </a:rPr>
              <a:t>Design and Implementation of Airline Reservation System, IEEE International Conference on Computer Science &amp; Information Technology, 2010.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1D4ED8"/>
                </a:solidFill>
                <a:latin typeface="Segoe UI"/>
              </a:rPr>
              <a:t>[3] Copeman, R. et al.
</a:t>
            </a:r>
            <a:r>
              <a:rPr sz="1050">
                <a:solidFill>
                  <a:srgbClr val="0F172A"/>
                </a:solidFill>
                <a:latin typeface="Segoe UI"/>
              </a:rPr>
              <a:t>Evolution of Computerized Airline Reservation Systems, IEEE Annals of the History of Computing, Vol. 25, No. 4.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1D4ED8"/>
                </a:solidFill>
                <a:latin typeface="Segoe UI"/>
              </a:rPr>
              <a:t>[4] Dwivedi, Y. K. et al.
</a:t>
            </a:r>
            <a:r>
              <a:rPr sz="1050">
                <a:solidFill>
                  <a:srgbClr val="0F172A"/>
                </a:solidFill>
                <a:latin typeface="Segoe UI"/>
              </a:rPr>
              <a:t>Generative Artificial Intelligence in Tourism &amp; Travel Planning, Springer Information Systems Frontiers, 2023.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E41"/>
                </a:solidFill>
                <a:latin typeface="Segoe UI"/>
              </a:defRPr>
            </a:pPr>
            <a:r>
              <a:t>Technical Frameworks &amp; Official Documentation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0D9488"/>
                </a:solidFill>
                <a:latin typeface="Segoe UI"/>
              </a:rPr>
              <a:t>[5] Oracle Corporation
</a:t>
            </a:r>
            <a:r>
              <a:rPr sz="1050">
                <a:solidFill>
                  <a:srgbClr val="0F172A"/>
                </a:solidFill>
                <a:latin typeface="Segoe UI"/>
              </a:rPr>
              <a:t>Java Platform, Standard Edition 21 (LTS) Specification and Core API Documentation, Oracle Technology Network.
https://docs.oracle.com/en/java/javase/21/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0D9488"/>
                </a:solidFill>
                <a:latin typeface="Segoe UI"/>
              </a:rPr>
              <a:t>[6] FormDev Software GmbH
</a:t>
            </a:r>
            <a:r>
              <a:rPr sz="1050">
                <a:solidFill>
                  <a:srgbClr val="0F172A"/>
                </a:solidFill>
                <a:latin typeface="Segoe UI"/>
              </a:rPr>
              <a:t>FlatLaf — Modern Flat Look and Feel for Java Swing Desktop Applications, Documentation &amp; Style Guide.
https://www.formdev.com/flatlaf/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0D9488"/>
                </a:solidFill>
                <a:latin typeface="Segoe UI"/>
              </a:rPr>
              <a:t>[7] Oracle Corporation
</a:t>
            </a:r>
            <a:r>
              <a:rPr sz="1050">
                <a:solidFill>
                  <a:srgbClr val="0F172A"/>
                </a:solidFill>
                <a:latin typeface="Segoe UI"/>
              </a:rPr>
              <a:t>MySQL 8.4 Reference Manual: InnoDB Storage Engine, Row Locking and Transaction Model, MySQL Documentation.
https://dev.mysql.com/doc/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0D9488"/>
                </a:solidFill>
                <a:latin typeface="Segoe UI"/>
              </a:rPr>
              <a:t>[8] Groq Inc.
</a:t>
            </a:r>
            <a:r>
              <a:rPr sz="1050">
                <a:solidFill>
                  <a:srgbClr val="0F172A"/>
                </a:solidFill>
                <a:latin typeface="Segoe UI"/>
              </a:rPr>
              <a:t>Groq Cloud API Documentation: OpenAI-Compatible Chat Completions &amp; High-Throughput LPU Inference Engine.
https://console.groq.com/docs/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